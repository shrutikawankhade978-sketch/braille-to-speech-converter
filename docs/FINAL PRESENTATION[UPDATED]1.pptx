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2" r:id="rId1"/>
    <p:sldMasterId id="2147484023" r:id="rId2"/>
  </p:sldMasterIdLst>
  <p:notesMasterIdLst>
    <p:notesMasterId r:id="rId19"/>
  </p:notesMasterIdLst>
  <p:sldIdLst>
    <p:sldId id="27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9321A-C773-47BE-A834-1DA491C8E1E8}" v="5" dt="2024-09-24T13:55:33.798"/>
    <p1510:client id="{5EF77EB2-EBD9-4AFA-B648-7B66A79578D8}" v="1" dt="2024-09-24T13:40:44.513"/>
    <p1510:client id="{AEB0188D-F6CB-407B-A304-1584D10E798B}" v="5" dt="2024-09-24T18:02:12.173"/>
    <p1510:client id="{BA3440B4-EE2C-468A-BFD8-1F27F2D8DDF9}" v="20" dt="2024-09-25T04:29:11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2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9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ika wankhade" userId="c3d946f1d71266f8" providerId="LiveId" clId="{BA3440B4-EE2C-468A-BFD8-1F27F2D8DDF9}"/>
    <pc:docChg chg="undo custSel addSld delSld modSld">
      <pc:chgData name="shrutika wankhade" userId="c3d946f1d71266f8" providerId="LiveId" clId="{BA3440B4-EE2C-468A-BFD8-1F27F2D8DDF9}" dt="2024-09-25T04:58:25.017" v="232" actId="20577"/>
      <pc:docMkLst>
        <pc:docMk/>
      </pc:docMkLst>
      <pc:sldChg chg="modSp del mod">
        <pc:chgData name="shrutika wankhade" userId="c3d946f1d71266f8" providerId="LiveId" clId="{BA3440B4-EE2C-468A-BFD8-1F27F2D8DDF9}" dt="2024-09-25T04:29:18.800" v="209" actId="2696"/>
        <pc:sldMkLst>
          <pc:docMk/>
          <pc:sldMk cId="1871164363" sldId="257"/>
        </pc:sldMkLst>
        <pc:graphicFrameChg chg="modGraphic">
          <ac:chgData name="shrutika wankhade" userId="c3d946f1d71266f8" providerId="LiveId" clId="{BA3440B4-EE2C-468A-BFD8-1F27F2D8DDF9}" dt="2024-09-25T04:27:48.528" v="190" actId="2084"/>
          <ac:graphicFrameMkLst>
            <pc:docMk/>
            <pc:sldMk cId="1871164363" sldId="257"/>
            <ac:graphicFrameMk id="4" creationId="{B25DBEFB-0BB1-473F-8D72-ADC9B357DDBF}"/>
          </ac:graphicFrameMkLst>
        </pc:graphicFrameChg>
      </pc:sldChg>
      <pc:sldChg chg="modSp mod">
        <pc:chgData name="shrutika wankhade" userId="c3d946f1d71266f8" providerId="LiveId" clId="{BA3440B4-EE2C-468A-BFD8-1F27F2D8DDF9}" dt="2024-09-24T18:17:08.461" v="164" actId="20577"/>
        <pc:sldMkLst>
          <pc:docMk/>
          <pc:sldMk cId="1935600834" sldId="259"/>
        </pc:sldMkLst>
        <pc:graphicFrameChg chg="mod modGraphic">
          <ac:chgData name="shrutika wankhade" userId="c3d946f1d71266f8" providerId="LiveId" clId="{BA3440B4-EE2C-468A-BFD8-1F27F2D8DDF9}" dt="2024-09-24T18:17:08.461" v="164" actId="20577"/>
          <ac:graphicFrameMkLst>
            <pc:docMk/>
            <pc:sldMk cId="1935600834" sldId="259"/>
            <ac:graphicFrameMk id="10" creationId="{CC85D5F7-CB56-5BBF-DBC7-F50B283C7DDE}"/>
          </ac:graphicFrameMkLst>
        </pc:graphicFrameChg>
      </pc:sldChg>
      <pc:sldChg chg="modSp mod">
        <pc:chgData name="shrutika wankhade" userId="c3d946f1d71266f8" providerId="LiveId" clId="{BA3440B4-EE2C-468A-BFD8-1F27F2D8DDF9}" dt="2024-09-25T04:25:05.131" v="181" actId="14100"/>
        <pc:sldMkLst>
          <pc:docMk/>
          <pc:sldMk cId="2929267116" sldId="260"/>
        </pc:sldMkLst>
        <pc:graphicFrameChg chg="modGraphic">
          <ac:chgData name="shrutika wankhade" userId="c3d946f1d71266f8" providerId="LiveId" clId="{BA3440B4-EE2C-468A-BFD8-1F27F2D8DDF9}" dt="2024-09-25T04:25:05.131" v="181" actId="14100"/>
          <ac:graphicFrameMkLst>
            <pc:docMk/>
            <pc:sldMk cId="2929267116" sldId="260"/>
            <ac:graphicFrameMk id="10" creationId="{CC85D5F7-CB56-5BBF-DBC7-F50B283C7DDE}"/>
          </ac:graphicFrameMkLst>
        </pc:graphicFrameChg>
      </pc:sldChg>
      <pc:sldChg chg="modSp mod">
        <pc:chgData name="shrutika wankhade" userId="c3d946f1d71266f8" providerId="LiveId" clId="{BA3440B4-EE2C-468A-BFD8-1F27F2D8DDF9}" dt="2024-09-24T18:20:54.332" v="167" actId="20577"/>
        <pc:sldMkLst>
          <pc:docMk/>
          <pc:sldMk cId="2957846196" sldId="261"/>
        </pc:sldMkLst>
        <pc:graphicFrameChg chg="modGraphic">
          <ac:chgData name="shrutika wankhade" userId="c3d946f1d71266f8" providerId="LiveId" clId="{BA3440B4-EE2C-468A-BFD8-1F27F2D8DDF9}" dt="2024-09-24T18:20:54.332" v="167" actId="20577"/>
          <ac:graphicFrameMkLst>
            <pc:docMk/>
            <pc:sldMk cId="2957846196" sldId="261"/>
            <ac:graphicFrameMk id="10" creationId="{CC85D5F7-CB56-5BBF-DBC7-F50B283C7DDE}"/>
          </ac:graphicFrameMkLst>
        </pc:graphicFrameChg>
      </pc:sldChg>
      <pc:sldChg chg="modSp mod">
        <pc:chgData name="shrutika wankhade" userId="c3d946f1d71266f8" providerId="LiveId" clId="{BA3440B4-EE2C-468A-BFD8-1F27F2D8DDF9}" dt="2024-09-25T04:44:03.759" v="217" actId="5793"/>
        <pc:sldMkLst>
          <pc:docMk/>
          <pc:sldMk cId="1222387028" sldId="263"/>
        </pc:sldMkLst>
        <pc:graphicFrameChg chg="modGraphic">
          <ac:chgData name="shrutika wankhade" userId="c3d946f1d71266f8" providerId="LiveId" clId="{BA3440B4-EE2C-468A-BFD8-1F27F2D8DDF9}" dt="2024-09-25T04:44:03.759" v="217" actId="5793"/>
          <ac:graphicFrameMkLst>
            <pc:docMk/>
            <pc:sldMk cId="1222387028" sldId="263"/>
            <ac:graphicFrameMk id="10" creationId="{CC85D5F7-CB56-5BBF-DBC7-F50B283C7DDE}"/>
          </ac:graphicFrameMkLst>
        </pc:graphicFrameChg>
      </pc:sldChg>
      <pc:sldChg chg="modSp mod">
        <pc:chgData name="shrutika wankhade" userId="c3d946f1d71266f8" providerId="LiveId" clId="{BA3440B4-EE2C-468A-BFD8-1F27F2D8DDF9}" dt="2024-09-25T04:37:07.120" v="212" actId="113"/>
        <pc:sldMkLst>
          <pc:docMk/>
          <pc:sldMk cId="702591039" sldId="266"/>
        </pc:sldMkLst>
        <pc:graphicFrameChg chg="modGraphic">
          <ac:chgData name="shrutika wankhade" userId="c3d946f1d71266f8" providerId="LiveId" clId="{BA3440B4-EE2C-468A-BFD8-1F27F2D8DDF9}" dt="2024-09-25T04:37:07.120" v="212" actId="113"/>
          <ac:graphicFrameMkLst>
            <pc:docMk/>
            <pc:sldMk cId="702591039" sldId="266"/>
            <ac:graphicFrameMk id="10" creationId="{CC85D5F7-CB56-5BBF-DBC7-F50B283C7DDE}"/>
          </ac:graphicFrameMkLst>
        </pc:graphicFrameChg>
        <pc:picChg chg="mod modCrop">
          <ac:chgData name="shrutika wankhade" userId="c3d946f1d71266f8" providerId="LiveId" clId="{BA3440B4-EE2C-468A-BFD8-1F27F2D8DDF9}" dt="2024-09-24T18:32:14.694" v="176" actId="1076"/>
          <ac:picMkLst>
            <pc:docMk/>
            <pc:sldMk cId="702591039" sldId="266"/>
            <ac:picMk id="5" creationId="{CD831198-4FBD-1561-4A83-AE430AC0DEF5}"/>
          </ac:picMkLst>
        </pc:picChg>
      </pc:sldChg>
      <pc:sldChg chg="modSp mod">
        <pc:chgData name="shrutika wankhade" userId="c3d946f1d71266f8" providerId="LiveId" clId="{BA3440B4-EE2C-468A-BFD8-1F27F2D8DDF9}" dt="2024-09-24T18:32:55.171" v="179" actId="20577"/>
        <pc:sldMkLst>
          <pc:docMk/>
          <pc:sldMk cId="3666448820" sldId="269"/>
        </pc:sldMkLst>
        <pc:graphicFrameChg chg="modGraphic">
          <ac:chgData name="shrutika wankhade" userId="c3d946f1d71266f8" providerId="LiveId" clId="{BA3440B4-EE2C-468A-BFD8-1F27F2D8DDF9}" dt="2024-09-24T18:32:55.171" v="179" actId="20577"/>
          <ac:graphicFrameMkLst>
            <pc:docMk/>
            <pc:sldMk cId="3666448820" sldId="269"/>
            <ac:graphicFrameMk id="10" creationId="{CC85D5F7-CB56-5BBF-DBC7-F50B283C7DDE}"/>
          </ac:graphicFrameMkLst>
        </pc:graphicFrameChg>
      </pc:sldChg>
      <pc:sldChg chg="modSp mod">
        <pc:chgData name="shrutika wankhade" userId="c3d946f1d71266f8" providerId="LiveId" clId="{BA3440B4-EE2C-468A-BFD8-1F27F2D8DDF9}" dt="2024-09-25T04:58:25.017" v="232" actId="20577"/>
        <pc:sldMkLst>
          <pc:docMk/>
          <pc:sldMk cId="2456673588" sldId="270"/>
        </pc:sldMkLst>
        <pc:graphicFrameChg chg="modGraphic">
          <ac:chgData name="shrutika wankhade" userId="c3d946f1d71266f8" providerId="LiveId" clId="{BA3440B4-EE2C-468A-BFD8-1F27F2D8DDF9}" dt="2024-09-25T04:58:25.017" v="232" actId="20577"/>
          <ac:graphicFrameMkLst>
            <pc:docMk/>
            <pc:sldMk cId="2456673588" sldId="270"/>
            <ac:graphicFrameMk id="10" creationId="{CC85D5F7-CB56-5BBF-DBC7-F50B283C7DDE}"/>
          </ac:graphicFrameMkLst>
        </pc:graphicFrameChg>
      </pc:sldChg>
      <pc:sldChg chg="modSp mod">
        <pc:chgData name="shrutika wankhade" userId="c3d946f1d71266f8" providerId="LiveId" clId="{BA3440B4-EE2C-468A-BFD8-1F27F2D8DDF9}" dt="2024-09-25T04:36:32.478" v="210" actId="2711"/>
        <pc:sldMkLst>
          <pc:docMk/>
          <pc:sldMk cId="2364038780" sldId="271"/>
        </pc:sldMkLst>
        <pc:graphicFrameChg chg="modGraphic">
          <ac:chgData name="shrutika wankhade" userId="c3d946f1d71266f8" providerId="LiveId" clId="{BA3440B4-EE2C-468A-BFD8-1F27F2D8DDF9}" dt="2024-09-25T04:36:32.478" v="210" actId="2711"/>
          <ac:graphicFrameMkLst>
            <pc:docMk/>
            <pc:sldMk cId="2364038780" sldId="271"/>
            <ac:graphicFrameMk id="10" creationId="{CC85D5F7-CB56-5BBF-DBC7-F50B283C7DDE}"/>
          </ac:graphicFrameMkLst>
        </pc:graphicFrameChg>
      </pc:sldChg>
      <pc:sldChg chg="modSp mod">
        <pc:chgData name="shrutika wankhade" userId="c3d946f1d71266f8" providerId="LiveId" clId="{BA3440B4-EE2C-468A-BFD8-1F27F2D8DDF9}" dt="2024-09-25T04:26:28.006" v="182" actId="2084"/>
        <pc:sldMkLst>
          <pc:docMk/>
          <pc:sldMk cId="3755489235" sldId="276"/>
        </pc:sldMkLst>
        <pc:graphicFrameChg chg="modGraphic">
          <ac:chgData name="shrutika wankhade" userId="c3d946f1d71266f8" providerId="LiveId" clId="{BA3440B4-EE2C-468A-BFD8-1F27F2D8DDF9}" dt="2024-09-25T04:26:28.006" v="182" actId="2084"/>
          <ac:graphicFrameMkLst>
            <pc:docMk/>
            <pc:sldMk cId="3755489235" sldId="276"/>
            <ac:graphicFrameMk id="4" creationId="{B25DBEFB-0BB1-473F-8D72-ADC9B357DDBF}"/>
          </ac:graphicFrameMkLst>
        </pc:graphicFrameChg>
      </pc:sldChg>
      <pc:sldChg chg="add modTransition">
        <pc:chgData name="shrutika wankhade" userId="c3d946f1d71266f8" providerId="LiveId" clId="{BA3440B4-EE2C-468A-BFD8-1F27F2D8DDF9}" dt="2024-09-25T04:29:11.187" v="208"/>
        <pc:sldMkLst>
          <pc:docMk/>
          <pc:sldMk cId="3838294711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29FD0-1415-4A57-9AF7-84243BFCEFE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6C90B-FCD3-4952-A05C-E2B390B73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6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979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44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492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268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929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178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980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34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065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200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543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42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753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197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824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6C90B-FCD3-4952-A05C-E2B390B732A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38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4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98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73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04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3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94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06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1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31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844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869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67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615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691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23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67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39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71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415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598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71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15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6186B-C0BB-4EF2-B317-DD3C4B75F5CE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1AD6F-8F8C-4005-9EE1-C2D42ED42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502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603C41EE-2298-6E96-AAFA-F2DA4D8C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5DBEFB-0BB1-473F-8D72-ADC9B357DDB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2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73">
                  <a:extLst>
                    <a:ext uri="{9D8B030D-6E8A-4147-A177-3AD203B41FA5}">
                      <a16:colId xmlns:a16="http://schemas.microsoft.com/office/drawing/2014/main" val="3200746020"/>
                    </a:ext>
                  </a:extLst>
                </a:gridCol>
                <a:gridCol w="2161809">
                  <a:extLst>
                    <a:ext uri="{9D8B030D-6E8A-4147-A177-3AD203B41FA5}">
                      <a16:colId xmlns:a16="http://schemas.microsoft.com/office/drawing/2014/main" val="1771862362"/>
                    </a:ext>
                  </a:extLst>
                </a:gridCol>
                <a:gridCol w="4520045">
                  <a:extLst>
                    <a:ext uri="{9D8B030D-6E8A-4147-A177-3AD203B41FA5}">
                      <a16:colId xmlns:a16="http://schemas.microsoft.com/office/drawing/2014/main" val="18313418"/>
                    </a:ext>
                  </a:extLst>
                </a:gridCol>
                <a:gridCol w="1194955">
                  <a:extLst>
                    <a:ext uri="{9D8B030D-6E8A-4147-A177-3AD203B41FA5}">
                      <a16:colId xmlns:a16="http://schemas.microsoft.com/office/drawing/2014/main" val="186734664"/>
                    </a:ext>
                  </a:extLst>
                </a:gridCol>
                <a:gridCol w="1298863">
                  <a:extLst>
                    <a:ext uri="{9D8B030D-6E8A-4147-A177-3AD203B41FA5}">
                      <a16:colId xmlns:a16="http://schemas.microsoft.com/office/drawing/2014/main" val="2108171452"/>
                    </a:ext>
                  </a:extLst>
                </a:gridCol>
                <a:gridCol w="813957">
                  <a:extLst>
                    <a:ext uri="{9D8B030D-6E8A-4147-A177-3AD203B41FA5}">
                      <a16:colId xmlns:a16="http://schemas.microsoft.com/office/drawing/2014/main" val="2917306643"/>
                    </a:ext>
                  </a:extLst>
                </a:gridCol>
              </a:tblGrid>
              <a:tr h="91304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051760"/>
                  </a:ext>
                </a:extLst>
              </a:tr>
              <a:tr h="1785515">
                <a:tc>
                  <a:txBody>
                    <a:bodyPr/>
                    <a:lstStyle/>
                    <a:p>
                      <a:endParaRPr lang="en-IN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204836"/>
                  </a:ext>
                </a:extLst>
              </a:tr>
              <a:tr h="233334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BRAILLE TO SPEECH CONVERSION FOR DISABLED PERSONS USING PYTHON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Under the guidance of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err="1"/>
                        <a:t>Dr.</a:t>
                      </a:r>
                      <a:r>
                        <a:rPr lang="en-IN" b="1" dirty="0"/>
                        <a:t> V. V. Rathi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62784"/>
                  </a:ext>
                </a:extLst>
              </a:tr>
              <a:tr h="91304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61501"/>
                  </a:ext>
                </a:extLst>
              </a:tr>
              <a:tr h="91304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295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294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721593"/>
              </p:ext>
            </p:extLst>
          </p:nvPr>
        </p:nvGraphicFramePr>
        <p:xfrm>
          <a:off x="0" y="-202017"/>
          <a:ext cx="12192000" cy="710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3423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423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53069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Individuals with visual impairments rely heavily on assistive technologies to interact with the world around them .Braille, a tactile writing system that allows blind and partially sighted people to read and write through touch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.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One such solution is the conversion of Braille to speech.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Braille to speech conversion system uses advanced technologies to enable visually impaired individuals to hear written content.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development of a Braille to speech conversion system combines multiple fields of technology, including image processing and machine learning, to translate tactile Braille symbols into audible speech.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Capture Images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Use a camera to capture images of Braille text.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Image Processing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Process the images to recognize the raised-dot patterns of Braille.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Pattern Recognition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Decode the recognized Braille patterns into corresponding text.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Text-to-Speech Conversion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Convert the decoded text into audible speech using a text-to-speech engine.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 Integration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Utilize Python and its libraries for image processing and text-to-speech conversion.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70368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600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37818"/>
              </p:ext>
            </p:extLst>
          </p:nvPr>
        </p:nvGraphicFramePr>
        <p:xfrm>
          <a:off x="0" y="-202019"/>
          <a:ext cx="12192000" cy="7060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8628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8446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394075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UPDATES TILL NOW: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Braille-to-speech conversion systems have been explored for years,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Traditional Braille-to-speech systems rely on costly and proprietary hardware, making them inaccessible to many, especially in developing countries.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Recent advancements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in machine learning, computer vision, and image processing offer new, cost-effective solutions.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Several image processing techniques have been used to recognize Braille characters, including edge detection, pattern recognition, and machine learning-based classification. In addition, the availability of powerful text-to-speech libraries in Python enables seamless integration of recognized text into speech.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8693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46158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267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828368"/>
              </p:ext>
            </p:extLst>
          </p:nvPr>
        </p:nvGraphicFramePr>
        <p:xfrm>
          <a:off x="0" y="-202019"/>
          <a:ext cx="12192000" cy="8537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526828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LITERATURE REVIEW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customized CNN model proposed based on Braille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Character dataset which has 26 different classes of all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Alphabets.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primary goal is to use optical character recognition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text-to-speech conversion to achieve the conversion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text in photographs to voice.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device which consists a camera captures an image of any page in a book, detects the text and converts this text into audio and also into refreshable Braille characters, in reality.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 living assistance system proposed, which integrates object recognition, object extraction, outline generation, and braille conversion algorithms, that is applicable both indoors and outdoors.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projects ultimate goal is to assist visually challenged persons with text recognition. This goal is accomplished by creating a module that converts text into speech and speaks it through the provided headphone/speaker.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  <p:pic>
        <p:nvPicPr>
          <p:cNvPr id="3" name="Picture 2" descr="A close-up of a device&#10;&#10;Description automatically generated">
            <a:extLst>
              <a:ext uri="{FF2B5EF4-FFF2-40B4-BE49-F238E27FC236}">
                <a16:creationId xmlns:a16="http://schemas.microsoft.com/office/drawing/2014/main" id="{D34D24D9-970E-D286-C3B9-F61C5B0C2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707" y="816826"/>
            <a:ext cx="4876800" cy="23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4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208583"/>
              </p:ext>
            </p:extLst>
          </p:nvPr>
        </p:nvGraphicFramePr>
        <p:xfrm>
          <a:off x="0" y="-202019"/>
          <a:ext cx="12192000" cy="7060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5269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42152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375882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SCOPE OF WORK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:</a:t>
                      </a:r>
                    </a:p>
                    <a:p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project focuses on creating a Python-based system that:</a:t>
                      </a:r>
                    </a:p>
                    <a:p>
                      <a:pPr lvl="0"/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>
                        <a:buFont typeface="+mj-lt"/>
                        <a:buNone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1)Recognizes Braille patterns through tactile input or image processing.</a:t>
                      </a:r>
                    </a:p>
                    <a:p>
                      <a:pPr marL="0" lvl="0" indent="0" algn="just">
                        <a:buFont typeface="+mj-lt"/>
                        <a:buNone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lvl="0"/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2) Converts these patterns into corresponding text.</a:t>
                      </a:r>
                    </a:p>
                    <a:p>
                      <a:pPr lvl="0"/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lvl="0"/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3)Uses text-to-speech (TTS) technology to generate speech output.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9361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41657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150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143408"/>
              </p:ext>
            </p:extLst>
          </p:nvPr>
        </p:nvGraphicFramePr>
        <p:xfrm>
          <a:off x="0" y="-202019"/>
          <a:ext cx="12192000" cy="7927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393405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27188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45272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OBJECTIVES 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study and explore the various techniques for Braille to speech conversion.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design a system that converts Braille into speech in real-time.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enhance the accessibility of communication for visually impaired individuals.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provide an affordable and efficient solution using Python, Open CV and open-source platform.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IN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simulate and verify the operation of proposed system.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38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286989"/>
              </p:ext>
            </p:extLst>
          </p:nvPr>
        </p:nvGraphicFramePr>
        <p:xfrm>
          <a:off x="0" y="-202019"/>
          <a:ext cx="12192000" cy="7805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385539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METHODOLOGY 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proposed Braille-to-speech system consists of the following key components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with blocks defined in figure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1168579-4DAA-F271-6874-E772F53AF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70" y="2484502"/>
            <a:ext cx="10143460" cy="21584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2365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525923"/>
              </p:ext>
            </p:extLst>
          </p:nvPr>
        </p:nvGraphicFramePr>
        <p:xfrm>
          <a:off x="0" y="-202019"/>
          <a:ext cx="12192000" cy="8476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526093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system begins by capturing an image of the Braille text using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camera. The quality of the image is critical for accurate recognition,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so a high-resolution camera is recommended. The image is then passed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to the preprocessing stage.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The captured image is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preprocessed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to enhance clarity and contrast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using image processing techniques such as grayscale conversion,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thresholding, and noise reduction.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The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preprocessed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image is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analyzed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using edge detection algorithms such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 Canny or Sobel. Contours are extracted to identify the position and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structure of the raised Braille dots. The system compares the detected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patterns with a stored database of Braille patterns to match the dot to 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to corresponding characters. Each six-dot Braille cell is mapped to its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         corresponding letter, number, or symbol.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D2604E5-0AA1-3159-8E2D-F5F027237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37"/>
          <a:stretch/>
        </p:blipFill>
        <p:spPr bwMode="auto">
          <a:xfrm>
            <a:off x="1366703" y="1065614"/>
            <a:ext cx="2950115" cy="1132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23D2C8-9FA2-0F2D-F490-F1B06B16D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7" r="56555" b="-4270"/>
          <a:stretch/>
        </p:blipFill>
        <p:spPr bwMode="auto">
          <a:xfrm>
            <a:off x="1509824" y="2558732"/>
            <a:ext cx="2806994" cy="131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9C9AFF-1FB8-EAA3-F58B-83B4325EA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9824" y="4048779"/>
            <a:ext cx="2806994" cy="17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25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59119"/>
              </p:ext>
            </p:extLst>
          </p:nvPr>
        </p:nvGraphicFramePr>
        <p:xfrm>
          <a:off x="0" y="-134926"/>
          <a:ext cx="12192000" cy="7425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340242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80351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45272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Once the Braille characters are identified and converted into text, the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system uses a text-to-speech engine to generate spoken output.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Python's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pyttsx3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gTTS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libraries provide the text-to-speech functionality  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transforming the recognized text into audible speech. The speech output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be adjusted for different languages, accents, or speeds to suit the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user's preference.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  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generated speech is played back to the user via speakers or headphone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     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8A3FC66-BE9E-2479-0DE1-76C99257D4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825" r="11842"/>
          <a:stretch/>
        </p:blipFill>
        <p:spPr>
          <a:xfrm>
            <a:off x="1148316" y="1333773"/>
            <a:ext cx="2503967" cy="1517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291494-6FCE-1ED6-550E-EDDFFF2A83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036" r="749"/>
          <a:stretch/>
        </p:blipFill>
        <p:spPr>
          <a:xfrm>
            <a:off x="1148316" y="3406440"/>
            <a:ext cx="1839432" cy="1201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831198-4FBD-1561-4A83-AE430AC0DE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627" t="38626" b="40907"/>
          <a:stretch/>
        </p:blipFill>
        <p:spPr>
          <a:xfrm>
            <a:off x="2987748" y="3735660"/>
            <a:ext cx="664535" cy="36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91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144817"/>
              </p:ext>
            </p:extLst>
          </p:nvPr>
        </p:nvGraphicFramePr>
        <p:xfrm>
          <a:off x="0" y="-202019"/>
          <a:ext cx="12192000" cy="7425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45272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ADVANTAGES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Increased Accessibility: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system allows visually impaired individuals to access printed materials audibly, removing the need for traditional Braille literacy and making information more accessible.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Cost-Effective Solution: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Using Python and image processing for Braille conversion eliminates the need for expensive Braille-to-text hardware devices, providing a software-based, cost-effective solution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Portability and Ease of Use: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Python-based system can run on everyday devices such as smartphones or tablets, making it portable and convenient for visually impaired users to use anywhere.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Efficient Processing: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combination of image processing and Python’s computational capabilities ensures quick conversion from Braille to speech, improving the reading experience for users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088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285995"/>
              </p:ext>
            </p:extLst>
          </p:nvPr>
        </p:nvGraphicFramePr>
        <p:xfrm>
          <a:off x="0" y="-202019"/>
          <a:ext cx="12192000" cy="783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45272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DISADVANTAGES 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Image Quality Dependency: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accuracy of Braille conversion depends heavily on the quality of the captured images. Poor lighting, image blur, or distortions could lead to errors in recognizing Braille symbols.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Accuracy with Complex Braille Structures: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While the system works well with standard Braille, more complex Braille formats or symbols (e.g., mathematical or scientific notations) may pose challenges for accurate detection and conversion.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Language Limitations: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Depending on the implementation, the system may initially be limited to certain languages or regions, requiring additional development to support multi-language Braille conversion.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20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Environmental Constraints: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Environmental factors such as lighting, noise, and background objects may interfere with accurate image capture and affect the quality of speech conversion.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34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57470"/>
              </p:ext>
            </p:extLst>
          </p:nvPr>
        </p:nvGraphicFramePr>
        <p:xfrm>
          <a:off x="0" y="-202019"/>
          <a:ext cx="12192000" cy="7060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5143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4114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383778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TOOLS AND TECHNOLOGIES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IN" sz="20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Python Programming Language</a:t>
                      </a: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Libraries: OpenCV (for image processing),</a:t>
                      </a: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  </a:t>
                      </a:r>
                      <a:r>
                        <a:rPr lang="en-IN" sz="20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gTTS</a:t>
                      </a: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or pyttsx3 (for speech generation)</a:t>
                      </a: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Braille Keypad or Image Processing for Braille Recognition.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88988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40661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448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35255"/>
              </p:ext>
            </p:extLst>
          </p:nvPr>
        </p:nvGraphicFramePr>
        <p:xfrm>
          <a:off x="0" y="-202020"/>
          <a:ext cx="12192000" cy="7060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971596">
                <a:tc>
                  <a:txBody>
                    <a:bodyPr/>
                    <a:lstStyle/>
                    <a:p>
                      <a:r>
                        <a:rPr lang="en-IN"/>
                        <a:t>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77727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357544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EXPECTED OUTCOMES 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working prototype that can effectively translate Braille input into speech.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Improved communication for visually impaired individuals.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cost-effective and accessible solution for educational or personal use.</a:t>
                      </a:r>
                    </a:p>
                    <a:p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96754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7681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673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003685"/>
              </p:ext>
            </p:extLst>
          </p:nvPr>
        </p:nvGraphicFramePr>
        <p:xfrm>
          <a:off x="0" y="-202019"/>
          <a:ext cx="12192000" cy="7425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45272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CONCLUSION/IMPLICATIONS 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This project aims to develop a Python-based Braille-to-speech conversion system using image processing and text-to-speech technologies.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system captures and recognizes Braille characters from images, converting them into speech.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It provides an affordable and accessible solution for visually impaired individuals, enhancing their communication and access to information.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proposed system is user-friendly and cost-effective, improving communication abilities for the visually impaired community.</a:t>
                      </a:r>
                    </a:p>
                    <a:p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038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D7C376D7-EDC2-3CF9-2331-BD8DD6FD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2019"/>
            <a:ext cx="12192000" cy="706001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5D5F7-CB56-5BBF-DBC7-F50B283C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344842"/>
              </p:ext>
            </p:extLst>
          </p:nvPr>
        </p:nvGraphicFramePr>
        <p:xfrm>
          <a:off x="0" y="-202019"/>
          <a:ext cx="12192000" cy="7425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67">
                  <a:extLst>
                    <a:ext uri="{9D8B030D-6E8A-4147-A177-3AD203B41FA5}">
                      <a16:colId xmlns:a16="http://schemas.microsoft.com/office/drawing/2014/main" val="807237304"/>
                    </a:ext>
                  </a:extLst>
                </a:gridCol>
                <a:gridCol w="404038">
                  <a:extLst>
                    <a:ext uri="{9D8B030D-6E8A-4147-A177-3AD203B41FA5}">
                      <a16:colId xmlns:a16="http://schemas.microsoft.com/office/drawing/2014/main" val="3752020320"/>
                    </a:ext>
                  </a:extLst>
                </a:gridCol>
                <a:gridCol w="10716555">
                  <a:extLst>
                    <a:ext uri="{9D8B030D-6E8A-4147-A177-3AD203B41FA5}">
                      <a16:colId xmlns:a16="http://schemas.microsoft.com/office/drawing/2014/main" val="11229201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8249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914147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88565780"/>
                    </a:ext>
                  </a:extLst>
                </a:gridCol>
              </a:tblGrid>
              <a:tr h="46262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01491"/>
                  </a:ext>
                </a:extLst>
              </a:tr>
              <a:tr h="37010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01012"/>
                  </a:ext>
                </a:extLst>
              </a:tr>
              <a:tr h="45272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FUTURE WORK :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Expansion to multi-lingual Braille-to-speech conversion.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Integration with other assistive technologies, such as speech recognition.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Development of mobile applications for increased accessibility.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Integration of real-time Braille-to-speech conversion via wearable devices.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Support for multi-lingual Braille recognition and speech generation.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Optimizing the system for mobile platforms to increase accessibility.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553735"/>
                  </a:ext>
                </a:extLst>
              </a:tr>
              <a:tr h="170000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1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775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reading a book in garmentille&#10;&#10;Description automatically generated">
            <a:extLst>
              <a:ext uri="{FF2B5EF4-FFF2-40B4-BE49-F238E27FC236}">
                <a16:creationId xmlns:a16="http://schemas.microsoft.com/office/drawing/2014/main" id="{603C41EE-2298-6E96-AAFA-F2DA4D8C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5DBEFB-0BB1-473F-8D72-ADC9B357D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713467"/>
              </p:ext>
            </p:extLst>
          </p:nvPr>
        </p:nvGraphicFramePr>
        <p:xfrm>
          <a:off x="0" y="1"/>
          <a:ext cx="12192002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73">
                  <a:extLst>
                    <a:ext uri="{9D8B030D-6E8A-4147-A177-3AD203B41FA5}">
                      <a16:colId xmlns:a16="http://schemas.microsoft.com/office/drawing/2014/main" val="3200746020"/>
                    </a:ext>
                  </a:extLst>
                </a:gridCol>
                <a:gridCol w="1625348">
                  <a:extLst>
                    <a:ext uri="{9D8B030D-6E8A-4147-A177-3AD203B41FA5}">
                      <a16:colId xmlns:a16="http://schemas.microsoft.com/office/drawing/2014/main" val="1771862362"/>
                    </a:ext>
                  </a:extLst>
                </a:gridCol>
                <a:gridCol w="5056506">
                  <a:extLst>
                    <a:ext uri="{9D8B030D-6E8A-4147-A177-3AD203B41FA5}">
                      <a16:colId xmlns:a16="http://schemas.microsoft.com/office/drawing/2014/main" val="18313418"/>
                    </a:ext>
                  </a:extLst>
                </a:gridCol>
                <a:gridCol w="1194955">
                  <a:extLst>
                    <a:ext uri="{9D8B030D-6E8A-4147-A177-3AD203B41FA5}">
                      <a16:colId xmlns:a16="http://schemas.microsoft.com/office/drawing/2014/main" val="186734664"/>
                    </a:ext>
                  </a:extLst>
                </a:gridCol>
                <a:gridCol w="1298863">
                  <a:extLst>
                    <a:ext uri="{9D8B030D-6E8A-4147-A177-3AD203B41FA5}">
                      <a16:colId xmlns:a16="http://schemas.microsoft.com/office/drawing/2014/main" val="2108171452"/>
                    </a:ext>
                  </a:extLst>
                </a:gridCol>
                <a:gridCol w="813957">
                  <a:extLst>
                    <a:ext uri="{9D8B030D-6E8A-4147-A177-3AD203B41FA5}">
                      <a16:colId xmlns:a16="http://schemas.microsoft.com/office/drawing/2014/main" val="2917306643"/>
                    </a:ext>
                  </a:extLst>
                </a:gridCol>
              </a:tblGrid>
              <a:tr h="95516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051760"/>
                  </a:ext>
                </a:extLst>
              </a:tr>
              <a:tr h="2288484">
                <a:tc>
                  <a:txBody>
                    <a:bodyPr/>
                    <a:lstStyle/>
                    <a:p>
                      <a:endParaRPr lang="en-IN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4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r>
                        <a:rPr lang="en-IN" sz="4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THANK YOU!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204836"/>
                  </a:ext>
                </a:extLst>
              </a:tr>
              <a:tr h="170402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62784"/>
                  </a:ext>
                </a:extLst>
              </a:tr>
              <a:tr h="95516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161501"/>
                  </a:ext>
                </a:extLst>
              </a:tr>
              <a:tr h="95516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295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489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1209</TotalTime>
  <Words>1285</Words>
  <Application>Microsoft Office PowerPoint</Application>
  <PresentationFormat>Widescreen</PresentationFormat>
  <Paragraphs>180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2013 - 2022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shrutika wankhade</dc:creator>
  <cp:lastModifiedBy>shrutika wankhade</cp:lastModifiedBy>
  <cp:revision>4</cp:revision>
  <dcterms:created xsi:type="dcterms:W3CDTF">2024-09-23T07:06:12Z</dcterms:created>
  <dcterms:modified xsi:type="dcterms:W3CDTF">2024-09-25T04:58:33Z</dcterms:modified>
</cp:coreProperties>
</file>